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8" r:id="rId3"/>
    <p:sldId id="282" r:id="rId4"/>
    <p:sldId id="283" r:id="rId5"/>
    <p:sldId id="260" r:id="rId6"/>
    <p:sldId id="261" r:id="rId7"/>
    <p:sldId id="280" r:id="rId8"/>
    <p:sldId id="262" r:id="rId9"/>
    <p:sldId id="266" r:id="rId10"/>
    <p:sldId id="267" r:id="rId11"/>
    <p:sldId id="268" r:id="rId12"/>
    <p:sldId id="269" r:id="rId13"/>
    <p:sldId id="270" r:id="rId14"/>
    <p:sldId id="271" r:id="rId15"/>
    <p:sldId id="272" r:id="rId16"/>
    <p:sldId id="275" r:id="rId17"/>
    <p:sldId id="273" r:id="rId18"/>
    <p:sldId id="276" r:id="rId19"/>
    <p:sldId id="277" r:id="rId20"/>
    <p:sldId id="284" r:id="rId21"/>
    <p:sldId id="278" r:id="rId22"/>
    <p:sldId id="281" r:id="rId23"/>
    <p:sldId id="259" r:id="rId24"/>
  </p:sldIdLst>
  <p:sldSz cx="12192000" cy="6858000"/>
  <p:notesSz cx="6858000" cy="9144000"/>
  <p:embeddedFontLst>
    <p:embeddedFont>
      <p:font typeface="Libre Baskerville" panose="02000000000000000000" pitchFamily="2"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99" name="Google Shape;99;p1"/>
          <p:cNvSpPr txBox="1"/>
          <p:nvPr/>
        </p:nvSpPr>
        <p:spPr>
          <a:xfrm>
            <a:off x="2472904" y="3019896"/>
            <a:ext cx="7246189" cy="1938952"/>
          </a:xfrm>
          <a:prstGeom prst="rect">
            <a:avLst/>
          </a:prstGeom>
          <a:noFill/>
          <a:ln>
            <a:noFill/>
          </a:ln>
        </p:spPr>
        <p:txBody>
          <a:bodyPr spcFirstLastPara="1" wrap="square" lIns="91425" tIns="45700" rIns="91425" bIns="45700" anchor="t" anchorCtr="0">
            <a:spAutoFit/>
          </a:bodyPr>
          <a:lstStyle/>
          <a:p>
            <a:pPr lvl="0" algn="ctr">
              <a:buSzPts val="1800"/>
            </a:pPr>
            <a:br>
              <a:rPr lang="en-IN" sz="4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br>
            <a:r>
              <a:rPr lang="en-IN" sz="4000" b="1" dirty="0">
                <a:latin typeface="Calibri" panose="020F0502020204030204" pitchFamily="34" charset="0"/>
                <a:ea typeface="Calibri" panose="020F0502020204030204" pitchFamily="34" charset="0"/>
                <a:cs typeface="Calibri" panose="020F0502020204030204" pitchFamily="34" charset="0"/>
              </a:rPr>
              <a:t>Music Store Data Analysis using SQL</a:t>
            </a:r>
            <a:endParaRPr sz="40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 name="TextBox 1">
            <a:extLst>
              <a:ext uri="{FF2B5EF4-FFF2-40B4-BE49-F238E27FC236}">
                <a16:creationId xmlns:a16="http://schemas.microsoft.com/office/drawing/2014/main" id="{78A57451-C640-9BC9-EA4A-3C2CA71DF307}"/>
              </a:ext>
            </a:extLst>
          </p:cNvPr>
          <p:cNvSpPr txBox="1"/>
          <p:nvPr/>
        </p:nvSpPr>
        <p:spPr>
          <a:xfrm>
            <a:off x="8482780" y="5657671"/>
            <a:ext cx="2959510" cy="1200329"/>
          </a:xfrm>
          <a:prstGeom prst="rect">
            <a:avLst/>
          </a:prstGeom>
          <a:noFill/>
        </p:spPr>
        <p:txBody>
          <a:bodyPr wrap="square" rtlCol="0">
            <a:spAutoFit/>
          </a:bodyPr>
          <a:lstStyle/>
          <a:p>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Presented By :</a:t>
            </a:r>
          </a:p>
          <a:p>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Revanth T</a:t>
            </a:r>
          </a:p>
          <a:p>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Batch No: 533</a:t>
            </a:r>
            <a:endPar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239134"/>
            <a:ext cx="10515600" cy="4777234"/>
          </a:xfrm>
          <a:prstGeom prst="rect">
            <a:avLst/>
          </a:prstGeom>
          <a:noFill/>
          <a:ln>
            <a:noFill/>
          </a:ln>
        </p:spPr>
        <p:txBody>
          <a:bodyPr spcFirstLastPara="1" wrap="square" lIns="91425" tIns="45700" rIns="91425" bIns="45700" anchor="t" anchorCtr="0">
            <a:normAutofit fontScale="92500" lnSpcReduction="20000"/>
          </a:bodyPr>
          <a:lstStyle/>
          <a:p>
            <a:pPr indent="-431800">
              <a:buSzPts val="2400"/>
            </a:pPr>
            <a:r>
              <a:rPr lang="en-IN" sz="2400" b="1" dirty="0"/>
              <a:t>Business Problem</a:t>
            </a:r>
          </a:p>
          <a:p>
            <a:pPr indent="-431800">
              <a:buSzPts val="2400"/>
            </a:pPr>
            <a:r>
              <a:rPr lang="en-IN" sz="2400" b="1" dirty="0"/>
              <a:t>Business Problem Statement</a:t>
            </a:r>
          </a:p>
          <a:p>
            <a:pPr indent="-431800">
              <a:buSzPts val="2400"/>
            </a:pPr>
            <a:r>
              <a:rPr lang="en-IN" sz="2400" b="1" dirty="0"/>
              <a:t>Introduction</a:t>
            </a:r>
          </a:p>
          <a:p>
            <a:pPr lvl="0" indent="-431800">
              <a:buSzPts val="2400"/>
            </a:pPr>
            <a:r>
              <a:rPr lang="en-IN" sz="2400" b="1" dirty="0"/>
              <a:t>Objective of the Project </a:t>
            </a:r>
          </a:p>
          <a:p>
            <a:pPr lvl="0" indent="-431800">
              <a:buSzPts val="2400"/>
            </a:pPr>
            <a:r>
              <a:rPr lang="en-US" sz="2400" b="1" dirty="0"/>
              <a:t>Music Store Database – Tables Overview</a:t>
            </a:r>
          </a:p>
          <a:p>
            <a:pPr lvl="0" indent="-431800">
              <a:buSzPts val="2400"/>
            </a:pPr>
            <a:r>
              <a:rPr lang="en-IN" sz="2400" b="1" dirty="0"/>
              <a:t>ER Diagram </a:t>
            </a:r>
          </a:p>
          <a:p>
            <a:pPr marL="457200" lvl="0" indent="-431800" algn="l" rtl="0">
              <a:lnSpc>
                <a:spcPct val="90000"/>
              </a:lnSpc>
              <a:spcBef>
                <a:spcPts val="1000"/>
              </a:spcBef>
              <a:spcAft>
                <a:spcPts val="0"/>
              </a:spcAft>
              <a:buSzPts val="2400"/>
              <a:buChar char="•"/>
            </a:pPr>
            <a:r>
              <a:rPr lang="en-IN" sz="2400" b="1" dirty="0"/>
              <a:t>SQL query results </a:t>
            </a:r>
          </a:p>
          <a:p>
            <a:pPr marL="457200" lvl="0" indent="-431800" algn="l" rtl="0">
              <a:lnSpc>
                <a:spcPct val="90000"/>
              </a:lnSpc>
              <a:spcBef>
                <a:spcPts val="1000"/>
              </a:spcBef>
              <a:spcAft>
                <a:spcPts val="0"/>
              </a:spcAft>
              <a:buSzPts val="2400"/>
              <a:buChar char="•"/>
            </a:pPr>
            <a:r>
              <a:rPr lang="en-US" sz="2400" b="1" dirty="0"/>
              <a:t>Challenges Faced </a:t>
            </a:r>
            <a:endParaRPr sz="2400" dirty="0"/>
          </a:p>
          <a:p>
            <a:pPr marL="457200" lvl="0" indent="-431800" algn="l" rtl="0">
              <a:lnSpc>
                <a:spcPct val="90000"/>
              </a:lnSpc>
              <a:spcBef>
                <a:spcPts val="1000"/>
              </a:spcBef>
              <a:spcAft>
                <a:spcPts val="0"/>
              </a:spcAft>
              <a:buSzPts val="2400"/>
              <a:buChar char="•"/>
            </a:pPr>
            <a:r>
              <a:rPr lang="en-IN" sz="2400" b="1" dirty="0"/>
              <a:t>Final business insights </a:t>
            </a:r>
          </a:p>
          <a:p>
            <a:pPr lvl="0" indent="-431800">
              <a:buSzPts val="2400"/>
            </a:pPr>
            <a:r>
              <a:rPr lang="en-IN" sz="2400" b="1" dirty="0"/>
              <a:t>Business Recommendations</a:t>
            </a:r>
          </a:p>
          <a:p>
            <a:pPr marL="457200" lvl="0" indent="-431800" algn="l" rtl="0">
              <a:lnSpc>
                <a:spcPct val="90000"/>
              </a:lnSpc>
              <a:spcBef>
                <a:spcPts val="1000"/>
              </a:spcBef>
              <a:spcAft>
                <a:spcPts val="0"/>
              </a:spcAft>
              <a:buSzPts val="2400"/>
              <a:buChar char="•"/>
            </a:pPr>
            <a:r>
              <a:rPr lang="en-IN" sz="2400" b="1" dirty="0"/>
              <a:t>Conclusion </a:t>
            </a:r>
          </a:p>
          <a:p>
            <a:pPr marL="457200" lvl="0" indent="-431800" algn="l" rtl="0">
              <a:lnSpc>
                <a:spcPct val="90000"/>
              </a:lnSpc>
              <a:spcBef>
                <a:spcPts val="1000"/>
              </a:spcBef>
              <a:spcAft>
                <a:spcPts val="0"/>
              </a:spcAft>
              <a:buSzPts val="2400"/>
              <a:buChar char="•"/>
            </a:pPr>
            <a:r>
              <a:rPr lang="en-IN" sz="2400" b="1" dirty="0"/>
              <a:t>Q&amp;A </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4592C-6C54-CDC4-3E2F-47F9CA222A4D}"/>
              </a:ext>
            </a:extLst>
          </p:cNvPr>
          <p:cNvSpPr>
            <a:spLocks noGrp="1"/>
          </p:cNvSpPr>
          <p:nvPr>
            <p:ph type="title"/>
          </p:nvPr>
        </p:nvSpPr>
        <p:spPr/>
        <p:txBody>
          <a:bodyPr/>
          <a:lstStyle/>
          <a:p>
            <a:pPr algn="ctr"/>
            <a:r>
              <a:rPr lang="en-US" b="1" dirty="0">
                <a:solidFill>
                  <a:srgbClr val="FF0000"/>
                </a:solidFill>
              </a:rPr>
              <a:t>Business Problem</a:t>
            </a:r>
            <a:endParaRPr lang="en-IN" b="1" dirty="0">
              <a:solidFill>
                <a:srgbClr val="FF0000"/>
              </a:solidFill>
            </a:endParaRPr>
          </a:p>
        </p:txBody>
      </p:sp>
      <p:sp>
        <p:nvSpPr>
          <p:cNvPr id="4" name="Rectangle 1">
            <a:extLst>
              <a:ext uri="{FF2B5EF4-FFF2-40B4-BE49-F238E27FC236}">
                <a16:creationId xmlns:a16="http://schemas.microsoft.com/office/drawing/2014/main" id="{8C17D918-B824-E805-9CB7-8F8C76F5B458}"/>
              </a:ext>
            </a:extLst>
          </p:cNvPr>
          <p:cNvSpPr>
            <a:spLocks noGrp="1" noChangeArrowheads="1"/>
          </p:cNvSpPr>
          <p:nvPr>
            <p:ph type="body" idx="1"/>
          </p:nvPr>
        </p:nvSpPr>
        <p:spPr bwMode="auto">
          <a:xfrm>
            <a:off x="1154304" y="1610414"/>
            <a:ext cx="988339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457200"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music store generates sales across multiple countries, cities, genres, artists, and customer segments, resulting in a large volume of transactional data.</a:t>
            </a:r>
          </a:p>
          <a:p>
            <a:pPr indent="-457200"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Without proper analysis, it becomes difficult to understand customer preferences, identify top-performing markets, and recognize high-value customers and popular music genres.</a:t>
            </a:r>
          </a:p>
        </p:txBody>
      </p:sp>
    </p:spTree>
    <p:extLst>
      <p:ext uri="{BB962C8B-B14F-4D97-AF65-F5344CB8AC3E}">
        <p14:creationId xmlns:p14="http://schemas.microsoft.com/office/powerpoint/2010/main" val="189190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3BEA3-2063-9512-8E71-C0329C9442FE}"/>
              </a:ext>
            </a:extLst>
          </p:cNvPr>
          <p:cNvSpPr>
            <a:spLocks noGrp="1"/>
          </p:cNvSpPr>
          <p:nvPr>
            <p:ph type="title"/>
          </p:nvPr>
        </p:nvSpPr>
        <p:spPr/>
        <p:txBody>
          <a:bodyPr/>
          <a:lstStyle/>
          <a:p>
            <a:pPr algn="ctr"/>
            <a:r>
              <a:rPr lang="en-US" b="1" dirty="0">
                <a:solidFill>
                  <a:srgbClr val="FF0000"/>
                </a:solidFill>
              </a:rPr>
              <a:t>Business Problem Statement</a:t>
            </a:r>
            <a:endParaRPr lang="en-IN" b="1" dirty="0">
              <a:solidFill>
                <a:srgbClr val="FF0000"/>
              </a:solidFill>
            </a:endParaRPr>
          </a:p>
        </p:txBody>
      </p:sp>
      <p:sp>
        <p:nvSpPr>
          <p:cNvPr id="3" name="Text Placeholder 2">
            <a:extLst>
              <a:ext uri="{FF2B5EF4-FFF2-40B4-BE49-F238E27FC236}">
                <a16:creationId xmlns:a16="http://schemas.microsoft.com/office/drawing/2014/main" id="{482DD672-DC08-53D4-9340-81E891AC01E6}"/>
              </a:ext>
            </a:extLst>
          </p:cNvPr>
          <p:cNvSpPr>
            <a:spLocks noGrp="1"/>
          </p:cNvSpPr>
          <p:nvPr>
            <p:ph type="body" idx="1"/>
          </p:nvPr>
        </p:nvSpPr>
        <p:spPr>
          <a:xfrm>
            <a:off x="838200" y="1432335"/>
            <a:ext cx="10515600" cy="4351338"/>
          </a:xfrm>
        </p:spPr>
        <p:txBody>
          <a:bodyPr/>
          <a:lstStyle/>
          <a:p>
            <a:pPr marL="114300" indent="0">
              <a:buNone/>
            </a:pPr>
            <a:r>
              <a:rPr lang="en-US" dirty="0"/>
              <a:t>The music store operates across multiple countries and offers a wide range of artists and genres. However, the company lacks clear visibility into:</a:t>
            </a:r>
          </a:p>
          <a:p>
            <a:pPr>
              <a:buFont typeface="Courier New" panose="02070309020205020404" pitchFamily="49" charset="0"/>
              <a:buChar char="o"/>
            </a:pPr>
            <a:r>
              <a:rPr lang="en-US" dirty="0"/>
              <a:t>Which markets generate the highest revenue</a:t>
            </a:r>
          </a:p>
          <a:p>
            <a:pPr>
              <a:buFont typeface="Courier New" panose="02070309020205020404" pitchFamily="49" charset="0"/>
              <a:buChar char="o"/>
            </a:pPr>
            <a:r>
              <a:rPr lang="en-US" dirty="0"/>
              <a:t>Which customers contribute the most to sales</a:t>
            </a:r>
          </a:p>
          <a:p>
            <a:pPr>
              <a:buFont typeface="Courier New" panose="02070309020205020404" pitchFamily="49" charset="0"/>
              <a:buChar char="o"/>
            </a:pPr>
            <a:r>
              <a:rPr lang="en-US" dirty="0"/>
              <a:t>Which music genres are most popular across regions</a:t>
            </a:r>
          </a:p>
          <a:p>
            <a:pPr>
              <a:buFont typeface="Courier New" panose="02070309020205020404" pitchFamily="49" charset="0"/>
              <a:buChar char="o"/>
            </a:pPr>
            <a:r>
              <a:rPr lang="en-US" dirty="0"/>
              <a:t>Which artists drive the strongest engagement and purchases</a:t>
            </a:r>
          </a:p>
          <a:p>
            <a:endParaRPr lang="en-IN" dirty="0"/>
          </a:p>
        </p:txBody>
      </p:sp>
    </p:spTree>
    <p:extLst>
      <p:ext uri="{BB962C8B-B14F-4D97-AF65-F5344CB8AC3E}">
        <p14:creationId xmlns:p14="http://schemas.microsoft.com/office/powerpoint/2010/main" val="2806433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6534-D6A9-682B-1B77-2C0F8DA5E9D4}"/>
              </a:ext>
            </a:extLst>
          </p:cNvPr>
          <p:cNvSpPr>
            <a:spLocks noGrp="1"/>
          </p:cNvSpPr>
          <p:nvPr>
            <p:ph type="title"/>
          </p:nvPr>
        </p:nvSpPr>
        <p:spPr>
          <a:xfrm>
            <a:off x="737885" y="-148515"/>
            <a:ext cx="10515600" cy="1325563"/>
          </a:xfrm>
        </p:spPr>
        <p:txBody>
          <a:bodyPr/>
          <a:lstStyle/>
          <a:p>
            <a:pPr algn="ctr"/>
            <a:r>
              <a:rPr lang="en-US" b="1" dirty="0">
                <a:solidFill>
                  <a:srgbClr val="FF0000"/>
                </a:solidFill>
              </a:rPr>
              <a:t>Introduction</a:t>
            </a:r>
            <a:endParaRPr lang="en-IN" b="1" dirty="0">
              <a:solidFill>
                <a:srgbClr val="FF0000"/>
              </a:solidFill>
            </a:endParaRPr>
          </a:p>
        </p:txBody>
      </p:sp>
      <p:sp>
        <p:nvSpPr>
          <p:cNvPr id="3" name="Text Placeholder 2">
            <a:extLst>
              <a:ext uri="{FF2B5EF4-FFF2-40B4-BE49-F238E27FC236}">
                <a16:creationId xmlns:a16="http://schemas.microsoft.com/office/drawing/2014/main" id="{F04E447E-33F9-83E3-668C-E22C7D0CE15C}"/>
              </a:ext>
            </a:extLst>
          </p:cNvPr>
          <p:cNvSpPr>
            <a:spLocks noGrp="1"/>
          </p:cNvSpPr>
          <p:nvPr>
            <p:ph type="body" idx="1"/>
          </p:nvPr>
        </p:nvSpPr>
        <p:spPr>
          <a:xfrm>
            <a:off x="838200" y="911474"/>
            <a:ext cx="10515600" cy="4351338"/>
          </a:xfrm>
        </p:spPr>
        <p:txBody>
          <a:bodyPr/>
          <a:lstStyle/>
          <a:p>
            <a:r>
              <a:rPr lang="en-US" dirty="0"/>
              <a:t>The Music Store Data Analysis project provides an opportunity to apply SQL concepts to a real-world dataset. </a:t>
            </a:r>
          </a:p>
          <a:p>
            <a:r>
              <a:rPr lang="en-US" dirty="0"/>
              <a:t>By working with a music store database, you will practice creating tables, defining relationships, importing data, and writing complex queries to answer business questions. </a:t>
            </a:r>
          </a:p>
          <a:p>
            <a:r>
              <a:rPr lang="en-US" dirty="0"/>
              <a:t>This project reinforces skills in database design, data manipulation, and analytical query writing. </a:t>
            </a:r>
            <a:endParaRPr lang="en-IN" dirty="0"/>
          </a:p>
        </p:txBody>
      </p:sp>
    </p:spTree>
    <p:extLst>
      <p:ext uri="{BB962C8B-B14F-4D97-AF65-F5344CB8AC3E}">
        <p14:creationId xmlns:p14="http://schemas.microsoft.com/office/powerpoint/2010/main" val="101679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DC845-237E-D4A4-2B64-71D4837ADC12}"/>
              </a:ext>
            </a:extLst>
          </p:cNvPr>
          <p:cNvSpPr>
            <a:spLocks noGrp="1"/>
          </p:cNvSpPr>
          <p:nvPr>
            <p:ph type="title"/>
          </p:nvPr>
        </p:nvSpPr>
        <p:spPr/>
        <p:txBody>
          <a:bodyPr/>
          <a:lstStyle/>
          <a:p>
            <a:pPr algn="ctr"/>
            <a:r>
              <a:rPr lang="en-IN" b="1" dirty="0">
                <a:solidFill>
                  <a:srgbClr val="FF0000"/>
                </a:solidFill>
              </a:rPr>
              <a:t>Objective of the Project </a:t>
            </a:r>
          </a:p>
        </p:txBody>
      </p:sp>
      <p:sp>
        <p:nvSpPr>
          <p:cNvPr id="3" name="Text Placeholder 2">
            <a:extLst>
              <a:ext uri="{FF2B5EF4-FFF2-40B4-BE49-F238E27FC236}">
                <a16:creationId xmlns:a16="http://schemas.microsoft.com/office/drawing/2014/main" id="{33085D8F-7619-02DA-2258-A7F3D89C6280}"/>
              </a:ext>
            </a:extLst>
          </p:cNvPr>
          <p:cNvSpPr>
            <a:spLocks noGrp="1"/>
          </p:cNvSpPr>
          <p:nvPr>
            <p:ph type="body" idx="1"/>
          </p:nvPr>
        </p:nvSpPr>
        <p:spPr>
          <a:xfrm>
            <a:off x="838200" y="1471664"/>
            <a:ext cx="10515600" cy="4351338"/>
          </a:xfrm>
        </p:spPr>
        <p:txBody>
          <a:bodyPr>
            <a:normAutofit lnSpcReduction="10000"/>
          </a:bodyPr>
          <a:lstStyle/>
          <a:p>
            <a:pPr marL="114300" indent="0">
              <a:buNone/>
            </a:pPr>
            <a:r>
              <a:rPr lang="en-US" dirty="0"/>
              <a:t>The objective of this project is to analyze the music store database using SQL to:</a:t>
            </a:r>
          </a:p>
          <a:p>
            <a:r>
              <a:rPr lang="en-US" dirty="0"/>
              <a:t>Identify top revenue-generating cities and countries</a:t>
            </a:r>
          </a:p>
          <a:p>
            <a:r>
              <a:rPr lang="en-US" dirty="0"/>
              <a:t>Determine the most valuable customers overall and per country</a:t>
            </a:r>
          </a:p>
          <a:p>
            <a:r>
              <a:rPr lang="en-US" dirty="0"/>
              <a:t>Analyze customer spending behavior across artists</a:t>
            </a:r>
          </a:p>
          <a:p>
            <a:r>
              <a:rPr lang="en-US" dirty="0"/>
              <a:t>Identify the most popular music genres by region</a:t>
            </a:r>
          </a:p>
          <a:p>
            <a:r>
              <a:rPr lang="en-US" dirty="0"/>
              <a:t>Identify top-performing artists based on track count</a:t>
            </a:r>
          </a:p>
          <a:p>
            <a:r>
              <a:rPr lang="en-US" dirty="0"/>
              <a:t>The goal is to transform raw transactional data into actionable business insights.</a:t>
            </a:r>
          </a:p>
        </p:txBody>
      </p:sp>
    </p:spTree>
    <p:extLst>
      <p:ext uri="{BB962C8B-B14F-4D97-AF65-F5344CB8AC3E}">
        <p14:creationId xmlns:p14="http://schemas.microsoft.com/office/powerpoint/2010/main" val="2843067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6C3F9-8C62-45FE-63B3-C920AB5C0479}"/>
              </a:ext>
            </a:extLst>
          </p:cNvPr>
          <p:cNvSpPr>
            <a:spLocks noGrp="1"/>
          </p:cNvSpPr>
          <p:nvPr>
            <p:ph type="title"/>
          </p:nvPr>
        </p:nvSpPr>
        <p:spPr/>
        <p:txBody>
          <a:bodyPr/>
          <a:lstStyle/>
          <a:p>
            <a:pPr algn="ctr"/>
            <a:r>
              <a:rPr lang="en-US" b="1" dirty="0">
                <a:solidFill>
                  <a:srgbClr val="FF0000"/>
                </a:solidFill>
              </a:rPr>
              <a:t>Music Store Database – Tables Overview</a:t>
            </a:r>
            <a:endParaRPr lang="en-IN" b="1" dirty="0">
              <a:solidFill>
                <a:srgbClr val="FF0000"/>
              </a:solidFill>
            </a:endParaRPr>
          </a:p>
        </p:txBody>
      </p:sp>
      <p:sp>
        <p:nvSpPr>
          <p:cNvPr id="3" name="TextBox 2">
            <a:extLst>
              <a:ext uri="{FF2B5EF4-FFF2-40B4-BE49-F238E27FC236}">
                <a16:creationId xmlns:a16="http://schemas.microsoft.com/office/drawing/2014/main" id="{2134E1ED-F4F1-5B84-3C50-C7E217E8E981}"/>
              </a:ext>
            </a:extLst>
          </p:cNvPr>
          <p:cNvSpPr txBox="1"/>
          <p:nvPr/>
        </p:nvSpPr>
        <p:spPr>
          <a:xfrm>
            <a:off x="1412240" y="1690688"/>
            <a:ext cx="9489440" cy="400110"/>
          </a:xfrm>
          <a:prstGeom prst="rect">
            <a:avLst/>
          </a:prstGeom>
          <a:noFill/>
        </p:spPr>
        <p:txBody>
          <a:bodyPr wrap="square" rtlCol="0">
            <a:spAutoFit/>
          </a:bodyPr>
          <a:lstStyle/>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2">
            <a:extLst>
              <a:ext uri="{FF2B5EF4-FFF2-40B4-BE49-F238E27FC236}">
                <a16:creationId xmlns:a16="http://schemas.microsoft.com/office/drawing/2014/main" id="{295E8EEB-4CBC-4853-5F22-3249D4C57AEA}"/>
              </a:ext>
            </a:extLst>
          </p:cNvPr>
          <p:cNvSpPr>
            <a:spLocks noChangeArrowheads="1"/>
          </p:cNvSpPr>
          <p:nvPr/>
        </p:nvSpPr>
        <p:spPr bwMode="auto">
          <a:xfrm>
            <a:off x="838200" y="1690688"/>
            <a:ext cx="10685939"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Employee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Stores employee details, job title, level, and reporting structure.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Artist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Stores artist names.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Album</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Links albums to artists.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Track</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Stores song details (album, genre, duration, price).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Genre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Classifies tracks by music category.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MediaType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Defines track format (e.g., audio type).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Invoice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Records customer purchase transactions.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Invoice Line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Stores track-level purchase details (price × quantity).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Playlist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Contains playlist names.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Playlist Track</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Maps tracks to playlists (many-to-many).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Customer</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Contains customer contact info and assigned support representative.</a:t>
            </a:r>
          </a:p>
        </p:txBody>
      </p:sp>
    </p:spTree>
    <p:extLst>
      <p:ext uri="{BB962C8B-B14F-4D97-AF65-F5344CB8AC3E}">
        <p14:creationId xmlns:p14="http://schemas.microsoft.com/office/powerpoint/2010/main" val="252443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D232E-3E84-4B5D-E220-8282513C8567}"/>
              </a:ext>
            </a:extLst>
          </p:cNvPr>
          <p:cNvSpPr>
            <a:spLocks noGrp="1"/>
          </p:cNvSpPr>
          <p:nvPr>
            <p:ph type="title"/>
          </p:nvPr>
        </p:nvSpPr>
        <p:spPr>
          <a:xfrm>
            <a:off x="727805" y="-235974"/>
            <a:ext cx="10515600" cy="1325563"/>
          </a:xfrm>
        </p:spPr>
        <p:txBody>
          <a:bodyPr/>
          <a:lstStyle/>
          <a:p>
            <a:pPr algn="ctr"/>
            <a:r>
              <a:rPr lang="en-US" b="1" dirty="0">
                <a:solidFill>
                  <a:srgbClr val="FF0000"/>
                </a:solidFill>
              </a:rPr>
              <a:t>ER DIAGRAM</a:t>
            </a:r>
            <a:endParaRPr lang="en-IN" b="1" dirty="0">
              <a:solidFill>
                <a:srgbClr val="FF0000"/>
              </a:solidFill>
            </a:endParaRPr>
          </a:p>
        </p:txBody>
      </p:sp>
      <p:pic>
        <p:nvPicPr>
          <p:cNvPr id="4" name="Picture 3">
            <a:extLst>
              <a:ext uri="{FF2B5EF4-FFF2-40B4-BE49-F238E27FC236}">
                <a16:creationId xmlns:a16="http://schemas.microsoft.com/office/drawing/2014/main" id="{D98D7106-4595-1647-2D75-6D768835F706}"/>
              </a:ext>
            </a:extLst>
          </p:cNvPr>
          <p:cNvPicPr>
            <a:picLocks noChangeAspect="1"/>
          </p:cNvPicPr>
          <p:nvPr/>
        </p:nvPicPr>
        <p:blipFill>
          <a:blip r:embed="rId2"/>
          <a:stretch>
            <a:fillRect/>
          </a:stretch>
        </p:blipFill>
        <p:spPr>
          <a:xfrm>
            <a:off x="322118" y="904429"/>
            <a:ext cx="11632855" cy="5953571"/>
          </a:xfrm>
          <a:prstGeom prst="rect">
            <a:avLst/>
          </a:prstGeom>
        </p:spPr>
      </p:pic>
    </p:spTree>
    <p:extLst>
      <p:ext uri="{BB962C8B-B14F-4D97-AF65-F5344CB8AC3E}">
        <p14:creationId xmlns:p14="http://schemas.microsoft.com/office/powerpoint/2010/main" val="2337868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9AE1-C483-1A03-F5B6-32BE66BDC5DE}"/>
              </a:ext>
            </a:extLst>
          </p:cNvPr>
          <p:cNvSpPr>
            <a:spLocks noGrp="1"/>
          </p:cNvSpPr>
          <p:nvPr>
            <p:ph type="title"/>
          </p:nvPr>
        </p:nvSpPr>
        <p:spPr>
          <a:xfrm>
            <a:off x="838200" y="475657"/>
            <a:ext cx="10515600" cy="1325563"/>
          </a:xfrm>
        </p:spPr>
        <p:txBody>
          <a:bodyPr>
            <a:noAutofit/>
          </a:bodyPr>
          <a:lstStyle/>
          <a:p>
            <a:pPr algn="ctr"/>
            <a:r>
              <a:rPr lang="en-US" sz="3200" b="1" dirty="0">
                <a:solidFill>
                  <a:srgbClr val="FF0000"/>
                </a:solidFill>
              </a:rPr>
              <a:t>Which city generates the highest total revenue and should be selected to host a promotional music festival?</a:t>
            </a:r>
            <a:endParaRPr lang="en-IN" sz="3200" b="1" dirty="0">
              <a:solidFill>
                <a:srgbClr val="FF0000"/>
              </a:solidFill>
            </a:endParaRPr>
          </a:p>
        </p:txBody>
      </p:sp>
      <p:pic>
        <p:nvPicPr>
          <p:cNvPr id="4" name="Picture 3">
            <a:extLst>
              <a:ext uri="{FF2B5EF4-FFF2-40B4-BE49-F238E27FC236}">
                <a16:creationId xmlns:a16="http://schemas.microsoft.com/office/drawing/2014/main" id="{96B9DA39-6464-E37B-B689-2DE67704CC03}"/>
              </a:ext>
            </a:extLst>
          </p:cNvPr>
          <p:cNvPicPr>
            <a:picLocks noChangeAspect="1"/>
          </p:cNvPicPr>
          <p:nvPr/>
        </p:nvPicPr>
        <p:blipFill>
          <a:blip r:embed="rId2"/>
          <a:stretch>
            <a:fillRect/>
          </a:stretch>
        </p:blipFill>
        <p:spPr>
          <a:xfrm>
            <a:off x="838200" y="2319706"/>
            <a:ext cx="5191850" cy="1333686"/>
          </a:xfrm>
          <a:prstGeom prst="rect">
            <a:avLst/>
          </a:prstGeom>
        </p:spPr>
      </p:pic>
      <p:pic>
        <p:nvPicPr>
          <p:cNvPr id="7" name="Picture 6">
            <a:extLst>
              <a:ext uri="{FF2B5EF4-FFF2-40B4-BE49-F238E27FC236}">
                <a16:creationId xmlns:a16="http://schemas.microsoft.com/office/drawing/2014/main" id="{39F28410-1896-77BF-DC9E-B0421934E74F}"/>
              </a:ext>
            </a:extLst>
          </p:cNvPr>
          <p:cNvPicPr>
            <a:picLocks noChangeAspect="1"/>
          </p:cNvPicPr>
          <p:nvPr/>
        </p:nvPicPr>
        <p:blipFill>
          <a:blip r:embed="rId3"/>
          <a:stretch>
            <a:fillRect/>
          </a:stretch>
        </p:blipFill>
        <p:spPr>
          <a:xfrm>
            <a:off x="838200" y="4398021"/>
            <a:ext cx="4771256" cy="1584830"/>
          </a:xfrm>
          <a:prstGeom prst="rect">
            <a:avLst/>
          </a:prstGeom>
        </p:spPr>
      </p:pic>
      <p:sp>
        <p:nvSpPr>
          <p:cNvPr id="6" name="Rectangle 2">
            <a:extLst>
              <a:ext uri="{FF2B5EF4-FFF2-40B4-BE49-F238E27FC236}">
                <a16:creationId xmlns:a16="http://schemas.microsoft.com/office/drawing/2014/main" id="{C8CD2BD0-A0B1-BD48-F311-7F211188326C}"/>
              </a:ext>
            </a:extLst>
          </p:cNvPr>
          <p:cNvSpPr>
            <a:spLocks noChangeArrowheads="1"/>
          </p:cNvSpPr>
          <p:nvPr/>
        </p:nvSpPr>
        <p:spPr bwMode="auto">
          <a:xfrm rot="10800000" flipV="1">
            <a:off x="6368394" y="2075228"/>
            <a:ext cx="540423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Prague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generates the highest total revenue with a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total billing of 273.24</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making it the top-performing city.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Since Prague contributes the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maximum revenue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it is the most suitable city to host a promotional music festival.</a:t>
            </a:r>
          </a:p>
        </p:txBody>
      </p:sp>
    </p:spTree>
    <p:extLst>
      <p:ext uri="{BB962C8B-B14F-4D97-AF65-F5344CB8AC3E}">
        <p14:creationId xmlns:p14="http://schemas.microsoft.com/office/powerpoint/2010/main" val="2116306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1B44E-61C8-CC68-B50C-5E285A04A339}"/>
              </a:ext>
            </a:extLst>
          </p:cNvPr>
          <p:cNvSpPr>
            <a:spLocks noGrp="1"/>
          </p:cNvSpPr>
          <p:nvPr>
            <p:ph type="title"/>
          </p:nvPr>
        </p:nvSpPr>
        <p:spPr/>
        <p:txBody>
          <a:bodyPr>
            <a:noAutofit/>
          </a:bodyPr>
          <a:lstStyle/>
          <a:p>
            <a:pPr algn="ctr"/>
            <a:r>
              <a:rPr lang="en-US" sz="3200" b="1" dirty="0">
                <a:solidFill>
                  <a:srgbClr val="FF0000"/>
                </a:solidFill>
              </a:rPr>
              <a:t>Which customer has spent the highest total amount and is therefore considered the best customer?</a:t>
            </a:r>
            <a:endParaRPr lang="en-IN" sz="3200" b="1" dirty="0">
              <a:solidFill>
                <a:srgbClr val="FF0000"/>
              </a:solidFill>
            </a:endParaRPr>
          </a:p>
        </p:txBody>
      </p:sp>
      <p:pic>
        <p:nvPicPr>
          <p:cNvPr id="7" name="Picture 6">
            <a:extLst>
              <a:ext uri="{FF2B5EF4-FFF2-40B4-BE49-F238E27FC236}">
                <a16:creationId xmlns:a16="http://schemas.microsoft.com/office/drawing/2014/main" id="{E9E96791-4DBB-0924-D333-35537FC5D075}"/>
              </a:ext>
            </a:extLst>
          </p:cNvPr>
          <p:cNvPicPr>
            <a:picLocks noChangeAspect="1"/>
          </p:cNvPicPr>
          <p:nvPr/>
        </p:nvPicPr>
        <p:blipFill>
          <a:blip r:embed="rId2"/>
          <a:stretch>
            <a:fillRect/>
          </a:stretch>
        </p:blipFill>
        <p:spPr>
          <a:xfrm>
            <a:off x="924791" y="5991104"/>
            <a:ext cx="3943900" cy="866896"/>
          </a:xfrm>
          <a:prstGeom prst="rect">
            <a:avLst/>
          </a:prstGeom>
        </p:spPr>
      </p:pic>
      <p:sp>
        <p:nvSpPr>
          <p:cNvPr id="3" name="Rectangle 1">
            <a:extLst>
              <a:ext uri="{FF2B5EF4-FFF2-40B4-BE49-F238E27FC236}">
                <a16:creationId xmlns:a16="http://schemas.microsoft.com/office/drawing/2014/main" id="{09517771-BD66-D4E7-548E-834B4BE09682}"/>
              </a:ext>
            </a:extLst>
          </p:cNvPr>
          <p:cNvSpPr>
            <a:spLocks noChangeArrowheads="1"/>
          </p:cNvSpPr>
          <p:nvPr/>
        </p:nvSpPr>
        <p:spPr bwMode="auto">
          <a:xfrm rot="10800000" flipV="1">
            <a:off x="7173208" y="1873693"/>
            <a:ext cx="458191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František Wichterlovái</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(Customer ID: 5) has the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highest total spending of 144.54</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making them the top customer.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Since the ranking is based on SUM(total), this customer is identified as the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best customer by total purchase value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52B1089B-39B9-E6BF-319A-21D728355776}"/>
              </a:ext>
            </a:extLst>
          </p:cNvPr>
          <p:cNvSpPr txBox="1"/>
          <p:nvPr/>
        </p:nvSpPr>
        <p:spPr>
          <a:xfrm>
            <a:off x="696191" y="1706949"/>
            <a:ext cx="5663045" cy="3970318"/>
          </a:xfrm>
          <a:prstGeom prst="rect">
            <a:avLst/>
          </a:prstGeom>
          <a:noFill/>
        </p:spPr>
        <p:txBody>
          <a:bodyPr wrap="square" rtlCol="0">
            <a:spAutoFit/>
          </a:bodyPr>
          <a:lstStyle/>
          <a:p>
            <a:r>
              <a:rPr lang="en-IN" sz="1800" dirty="0"/>
              <a:t>CREATE VIEW top_customer_by_total_bill AS</a:t>
            </a:r>
          </a:p>
          <a:p>
            <a:r>
              <a:rPr lang="en-IN" sz="1800" dirty="0"/>
              <a:t>SELECT </a:t>
            </a:r>
          </a:p>
          <a:p>
            <a:r>
              <a:rPr lang="en-IN" sz="1800" dirty="0"/>
              <a:t>    i.customer_id,</a:t>
            </a:r>
          </a:p>
          <a:p>
            <a:r>
              <a:rPr lang="en-IN" sz="1800" dirty="0"/>
              <a:t>    c.first_name,</a:t>
            </a:r>
          </a:p>
          <a:p>
            <a:r>
              <a:rPr lang="en-IN" sz="1800" dirty="0"/>
              <a:t>    c.last_name,</a:t>
            </a:r>
          </a:p>
          <a:p>
            <a:r>
              <a:rPr lang="en-IN" sz="1800" dirty="0"/>
              <a:t>    SUM(i.total) AS total_bill</a:t>
            </a:r>
          </a:p>
          <a:p>
            <a:r>
              <a:rPr lang="en-IN" sz="1800" dirty="0"/>
              <a:t>FROM invoice AS i</a:t>
            </a:r>
          </a:p>
          <a:p>
            <a:r>
              <a:rPr lang="en-IN" sz="1800" dirty="0"/>
              <a:t>JOIN customer AS c</a:t>
            </a:r>
          </a:p>
          <a:p>
            <a:r>
              <a:rPr lang="en-IN" sz="1800" dirty="0"/>
              <a:t>    ON i.customer_id = c.customer_id</a:t>
            </a:r>
          </a:p>
          <a:p>
            <a:r>
              <a:rPr lang="en-IN" sz="1800" dirty="0"/>
              <a:t>GROUP BY i.customer_id, c.first_name, c.last_name</a:t>
            </a:r>
          </a:p>
          <a:p>
            <a:r>
              <a:rPr lang="en-IN" sz="1800" dirty="0"/>
              <a:t>ORDER BY total_bill DESC</a:t>
            </a:r>
          </a:p>
          <a:p>
            <a:r>
              <a:rPr lang="en-IN" sz="1800" dirty="0"/>
              <a:t>LIMIT 1;</a:t>
            </a:r>
          </a:p>
          <a:p>
            <a:endParaRPr lang="en-IN" sz="1800" dirty="0"/>
          </a:p>
          <a:p>
            <a:r>
              <a:rPr lang="en-IN" sz="1800" dirty="0"/>
              <a:t>SELECT * FROM top_customer_by_total_bill;</a:t>
            </a:r>
          </a:p>
        </p:txBody>
      </p:sp>
    </p:spTree>
    <p:extLst>
      <p:ext uri="{BB962C8B-B14F-4D97-AF65-F5344CB8AC3E}">
        <p14:creationId xmlns:p14="http://schemas.microsoft.com/office/powerpoint/2010/main" val="2118630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A5389-3113-935F-BF78-05E465880EE9}"/>
              </a:ext>
            </a:extLst>
          </p:cNvPr>
          <p:cNvSpPr>
            <a:spLocks noGrp="1"/>
          </p:cNvSpPr>
          <p:nvPr>
            <p:ph type="title"/>
          </p:nvPr>
        </p:nvSpPr>
        <p:spPr/>
        <p:txBody>
          <a:bodyPr>
            <a:normAutofit fontScale="90000"/>
          </a:bodyPr>
          <a:lstStyle/>
          <a:p>
            <a:pPr algn="ctr"/>
            <a:r>
              <a:rPr lang="en-US" b="1" dirty="0">
                <a:solidFill>
                  <a:srgbClr val="FF0000"/>
                </a:solidFill>
              </a:rPr>
              <a:t>Retrieve the email ID, first name, last name, and genre of all customers who listen to Rock music.</a:t>
            </a:r>
            <a:endParaRPr lang="en-IN" b="1" dirty="0">
              <a:solidFill>
                <a:srgbClr val="FF0000"/>
              </a:solidFill>
            </a:endParaRPr>
          </a:p>
        </p:txBody>
      </p:sp>
      <p:pic>
        <p:nvPicPr>
          <p:cNvPr id="7" name="Picture 6">
            <a:extLst>
              <a:ext uri="{FF2B5EF4-FFF2-40B4-BE49-F238E27FC236}">
                <a16:creationId xmlns:a16="http://schemas.microsoft.com/office/drawing/2014/main" id="{DF11BF33-E6F2-E55D-33BA-79CE07F3BD7F}"/>
              </a:ext>
            </a:extLst>
          </p:cNvPr>
          <p:cNvPicPr>
            <a:picLocks noChangeAspect="1"/>
          </p:cNvPicPr>
          <p:nvPr/>
        </p:nvPicPr>
        <p:blipFill>
          <a:blip r:embed="rId2"/>
          <a:stretch>
            <a:fillRect/>
          </a:stretch>
        </p:blipFill>
        <p:spPr>
          <a:xfrm>
            <a:off x="838200" y="1794687"/>
            <a:ext cx="5420481" cy="3029373"/>
          </a:xfrm>
          <a:prstGeom prst="rect">
            <a:avLst/>
          </a:prstGeom>
        </p:spPr>
      </p:pic>
      <p:pic>
        <p:nvPicPr>
          <p:cNvPr id="9" name="Picture 8">
            <a:extLst>
              <a:ext uri="{FF2B5EF4-FFF2-40B4-BE49-F238E27FC236}">
                <a16:creationId xmlns:a16="http://schemas.microsoft.com/office/drawing/2014/main" id="{67FBB424-7F0E-16B8-050C-7F66C0950C82}"/>
              </a:ext>
            </a:extLst>
          </p:cNvPr>
          <p:cNvPicPr>
            <a:picLocks noChangeAspect="1"/>
          </p:cNvPicPr>
          <p:nvPr/>
        </p:nvPicPr>
        <p:blipFill>
          <a:blip r:embed="rId3"/>
          <a:stretch>
            <a:fillRect/>
          </a:stretch>
        </p:blipFill>
        <p:spPr>
          <a:xfrm>
            <a:off x="6840876" y="1690688"/>
            <a:ext cx="4401164" cy="3029373"/>
          </a:xfrm>
          <a:prstGeom prst="rect">
            <a:avLst/>
          </a:prstGeom>
        </p:spPr>
      </p:pic>
      <p:sp>
        <p:nvSpPr>
          <p:cNvPr id="3" name="Rectangle 1">
            <a:extLst>
              <a:ext uri="{FF2B5EF4-FFF2-40B4-BE49-F238E27FC236}">
                <a16:creationId xmlns:a16="http://schemas.microsoft.com/office/drawing/2014/main" id="{F47EDC07-ABD1-A809-B556-D375CE1DB867}"/>
              </a:ext>
            </a:extLst>
          </p:cNvPr>
          <p:cNvSpPr>
            <a:spLocks noChangeArrowheads="1"/>
          </p:cNvSpPr>
          <p:nvPr/>
        </p:nvSpPr>
        <p:spPr bwMode="auto">
          <a:xfrm>
            <a:off x="690940" y="4928059"/>
            <a:ext cx="1081011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query identifies </a:t>
            </a: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customers associated with the Rock genre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by joining customer, invoice, invoice line, track, and genre tables.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DISTINCT is used to ensure that </a:t>
            </a: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each Rock music listener appears only once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even if they have purchased multiple Rock tracks.</a:t>
            </a:r>
          </a:p>
        </p:txBody>
      </p:sp>
    </p:spTree>
    <p:extLst>
      <p:ext uri="{BB962C8B-B14F-4D97-AF65-F5344CB8AC3E}">
        <p14:creationId xmlns:p14="http://schemas.microsoft.com/office/powerpoint/2010/main" val="595811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44213-B11C-3BA7-B991-3BCB8CD6A7E2}"/>
              </a:ext>
            </a:extLst>
          </p:cNvPr>
          <p:cNvSpPr>
            <a:spLocks noGrp="1"/>
          </p:cNvSpPr>
          <p:nvPr>
            <p:ph type="title"/>
          </p:nvPr>
        </p:nvSpPr>
        <p:spPr/>
        <p:txBody>
          <a:bodyPr>
            <a:normAutofit/>
          </a:bodyPr>
          <a:lstStyle/>
          <a:p>
            <a:pPr algn="ctr"/>
            <a:r>
              <a:rPr lang="en-US" sz="3600" b="1" dirty="0">
                <a:solidFill>
                  <a:srgbClr val="FF0000"/>
                </a:solidFill>
              </a:rPr>
              <a:t>Which artists have produced the highest number of Rock music tracks in the dataset?</a:t>
            </a:r>
            <a:endParaRPr lang="en-IN" sz="3600" b="1" dirty="0">
              <a:solidFill>
                <a:srgbClr val="FF0000"/>
              </a:solidFill>
            </a:endParaRPr>
          </a:p>
        </p:txBody>
      </p:sp>
      <p:pic>
        <p:nvPicPr>
          <p:cNvPr id="5" name="Picture 4">
            <a:extLst>
              <a:ext uri="{FF2B5EF4-FFF2-40B4-BE49-F238E27FC236}">
                <a16:creationId xmlns:a16="http://schemas.microsoft.com/office/drawing/2014/main" id="{EBF5615E-81A1-17D4-2FDB-39E3957FA73A}"/>
              </a:ext>
            </a:extLst>
          </p:cNvPr>
          <p:cNvPicPr>
            <a:picLocks noChangeAspect="1"/>
          </p:cNvPicPr>
          <p:nvPr/>
        </p:nvPicPr>
        <p:blipFill>
          <a:blip r:embed="rId2"/>
          <a:stretch>
            <a:fillRect/>
          </a:stretch>
        </p:blipFill>
        <p:spPr>
          <a:xfrm>
            <a:off x="838200" y="1690688"/>
            <a:ext cx="5315692" cy="3000794"/>
          </a:xfrm>
          <a:prstGeom prst="rect">
            <a:avLst/>
          </a:prstGeom>
        </p:spPr>
      </p:pic>
      <p:pic>
        <p:nvPicPr>
          <p:cNvPr id="7" name="Picture 6">
            <a:extLst>
              <a:ext uri="{FF2B5EF4-FFF2-40B4-BE49-F238E27FC236}">
                <a16:creationId xmlns:a16="http://schemas.microsoft.com/office/drawing/2014/main" id="{56A09B9B-034C-12C9-3717-2828CC710732}"/>
              </a:ext>
            </a:extLst>
          </p:cNvPr>
          <p:cNvPicPr>
            <a:picLocks noChangeAspect="1"/>
          </p:cNvPicPr>
          <p:nvPr/>
        </p:nvPicPr>
        <p:blipFill>
          <a:blip r:embed="rId3"/>
          <a:stretch>
            <a:fillRect/>
          </a:stretch>
        </p:blipFill>
        <p:spPr>
          <a:xfrm>
            <a:off x="7333348" y="1900301"/>
            <a:ext cx="3381847" cy="2029108"/>
          </a:xfrm>
          <a:prstGeom prst="rect">
            <a:avLst/>
          </a:prstGeom>
        </p:spPr>
      </p:pic>
      <p:sp>
        <p:nvSpPr>
          <p:cNvPr id="3" name="Rectangle 1">
            <a:extLst>
              <a:ext uri="{FF2B5EF4-FFF2-40B4-BE49-F238E27FC236}">
                <a16:creationId xmlns:a16="http://schemas.microsoft.com/office/drawing/2014/main" id="{9A3E5D47-B53A-C133-32D9-25A9BE005213}"/>
              </a:ext>
            </a:extLst>
          </p:cNvPr>
          <p:cNvSpPr>
            <a:spLocks noChangeArrowheads="1"/>
          </p:cNvSpPr>
          <p:nvPr/>
        </p:nvSpPr>
        <p:spPr bwMode="auto">
          <a:xfrm>
            <a:off x="594668" y="4691482"/>
            <a:ext cx="1111844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AC/DC</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has the highest number of Rock tracks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18</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making them the top contributor in the Rock genre.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Other prominent Rock artists include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Aerosmith (15 tracks)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Audioslave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Led Zeppelin (14 tracks each)</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indicating strong representation in the Rock category.</a:t>
            </a:r>
          </a:p>
        </p:txBody>
      </p:sp>
    </p:spTree>
    <p:extLst>
      <p:ext uri="{BB962C8B-B14F-4D97-AF65-F5344CB8AC3E}">
        <p14:creationId xmlns:p14="http://schemas.microsoft.com/office/powerpoint/2010/main" val="2487015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3EEEE-A09D-0058-4E3F-9FC00CECA944}"/>
              </a:ext>
            </a:extLst>
          </p:cNvPr>
          <p:cNvSpPr>
            <a:spLocks noGrp="1"/>
          </p:cNvSpPr>
          <p:nvPr>
            <p:ph type="title"/>
          </p:nvPr>
        </p:nvSpPr>
        <p:spPr/>
        <p:txBody>
          <a:bodyPr>
            <a:noAutofit/>
          </a:bodyPr>
          <a:lstStyle/>
          <a:p>
            <a:pPr algn="ctr"/>
            <a:r>
              <a:rPr lang="en-US" sz="3200" b="1" dirty="0">
                <a:solidFill>
                  <a:srgbClr val="FF0000"/>
                </a:solidFill>
              </a:rPr>
              <a:t> Return all the track names that have a song length longer than the average song length.-Return the Name and Milliseconds for each track</a:t>
            </a:r>
            <a:endParaRPr lang="en-IN" sz="3200" b="1" dirty="0">
              <a:solidFill>
                <a:srgbClr val="FF0000"/>
              </a:solidFill>
            </a:endParaRPr>
          </a:p>
        </p:txBody>
      </p:sp>
      <p:pic>
        <p:nvPicPr>
          <p:cNvPr id="5" name="Picture 4">
            <a:extLst>
              <a:ext uri="{FF2B5EF4-FFF2-40B4-BE49-F238E27FC236}">
                <a16:creationId xmlns:a16="http://schemas.microsoft.com/office/drawing/2014/main" id="{109EBB2F-1B34-4F2A-8985-4B8FFAE76958}"/>
              </a:ext>
            </a:extLst>
          </p:cNvPr>
          <p:cNvPicPr>
            <a:picLocks noChangeAspect="1"/>
          </p:cNvPicPr>
          <p:nvPr/>
        </p:nvPicPr>
        <p:blipFill>
          <a:blip r:embed="rId2"/>
          <a:stretch>
            <a:fillRect/>
          </a:stretch>
        </p:blipFill>
        <p:spPr>
          <a:xfrm>
            <a:off x="722453" y="2049905"/>
            <a:ext cx="4925112" cy="1009791"/>
          </a:xfrm>
          <a:prstGeom prst="rect">
            <a:avLst/>
          </a:prstGeom>
        </p:spPr>
      </p:pic>
      <p:pic>
        <p:nvPicPr>
          <p:cNvPr id="7" name="Picture 6">
            <a:extLst>
              <a:ext uri="{FF2B5EF4-FFF2-40B4-BE49-F238E27FC236}">
                <a16:creationId xmlns:a16="http://schemas.microsoft.com/office/drawing/2014/main" id="{63BE638B-E62E-837A-8EB0-3A7533B6E3FF}"/>
              </a:ext>
            </a:extLst>
          </p:cNvPr>
          <p:cNvPicPr>
            <a:picLocks noChangeAspect="1"/>
          </p:cNvPicPr>
          <p:nvPr/>
        </p:nvPicPr>
        <p:blipFill>
          <a:blip r:embed="rId3"/>
          <a:stretch>
            <a:fillRect/>
          </a:stretch>
        </p:blipFill>
        <p:spPr>
          <a:xfrm>
            <a:off x="722453" y="3281929"/>
            <a:ext cx="4925112" cy="3292491"/>
          </a:xfrm>
          <a:prstGeom prst="rect">
            <a:avLst/>
          </a:prstGeom>
        </p:spPr>
      </p:pic>
      <p:sp>
        <p:nvSpPr>
          <p:cNvPr id="3" name="Rectangle 1">
            <a:extLst>
              <a:ext uri="{FF2B5EF4-FFF2-40B4-BE49-F238E27FC236}">
                <a16:creationId xmlns:a16="http://schemas.microsoft.com/office/drawing/2014/main" id="{C8C6C009-EBB2-917C-3A73-D3AA38B12912}"/>
              </a:ext>
            </a:extLst>
          </p:cNvPr>
          <p:cNvSpPr>
            <a:spLocks noChangeArrowheads="1"/>
          </p:cNvSpPr>
          <p:nvPr/>
        </p:nvSpPr>
        <p:spPr bwMode="auto">
          <a:xfrm>
            <a:off x="6096000" y="1887859"/>
            <a:ext cx="550423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query compares each track’s duration with the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average track length</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returns only those tracks that are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longer than the average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Results are sorted in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descending order of milliseconds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highlighting the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longest tracks first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 </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“How Many More Times”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being the longest among them.</a:t>
            </a:r>
          </a:p>
        </p:txBody>
      </p:sp>
    </p:spTree>
    <p:extLst>
      <p:ext uri="{BB962C8B-B14F-4D97-AF65-F5344CB8AC3E}">
        <p14:creationId xmlns:p14="http://schemas.microsoft.com/office/powerpoint/2010/main" val="4091424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F8FE-E457-31F6-21F5-2C23BE07A2C3}"/>
              </a:ext>
            </a:extLst>
          </p:cNvPr>
          <p:cNvSpPr>
            <a:spLocks noGrp="1"/>
          </p:cNvSpPr>
          <p:nvPr>
            <p:ph type="title"/>
          </p:nvPr>
        </p:nvSpPr>
        <p:spPr>
          <a:xfrm>
            <a:off x="730046" y="0"/>
            <a:ext cx="10515600" cy="1325563"/>
          </a:xfrm>
        </p:spPr>
        <p:txBody>
          <a:bodyPr>
            <a:normAutofit/>
          </a:bodyPr>
          <a:lstStyle/>
          <a:p>
            <a:pPr algn="ctr"/>
            <a:r>
              <a:rPr lang="en-US" sz="3200" b="1" dirty="0">
                <a:solidFill>
                  <a:srgbClr val="FF0000"/>
                </a:solidFill>
              </a:rPr>
              <a:t>Calculate the total amount spent by each customer on individual artists.</a:t>
            </a:r>
            <a:endParaRPr lang="en-IN" sz="3200" b="1" dirty="0">
              <a:solidFill>
                <a:srgbClr val="FF0000"/>
              </a:solidFill>
            </a:endParaRPr>
          </a:p>
        </p:txBody>
      </p:sp>
      <p:pic>
        <p:nvPicPr>
          <p:cNvPr id="5" name="Picture 4">
            <a:extLst>
              <a:ext uri="{FF2B5EF4-FFF2-40B4-BE49-F238E27FC236}">
                <a16:creationId xmlns:a16="http://schemas.microsoft.com/office/drawing/2014/main" id="{F54C0407-19BD-9A01-0014-F3B213F35FFA}"/>
              </a:ext>
            </a:extLst>
          </p:cNvPr>
          <p:cNvPicPr>
            <a:picLocks noChangeAspect="1"/>
          </p:cNvPicPr>
          <p:nvPr/>
        </p:nvPicPr>
        <p:blipFill>
          <a:blip r:embed="rId2"/>
          <a:stretch>
            <a:fillRect/>
          </a:stretch>
        </p:blipFill>
        <p:spPr>
          <a:xfrm>
            <a:off x="852281" y="1299074"/>
            <a:ext cx="6064046" cy="3118618"/>
          </a:xfrm>
          <a:prstGeom prst="rect">
            <a:avLst/>
          </a:prstGeom>
        </p:spPr>
      </p:pic>
      <p:pic>
        <p:nvPicPr>
          <p:cNvPr id="7" name="Picture 6">
            <a:extLst>
              <a:ext uri="{FF2B5EF4-FFF2-40B4-BE49-F238E27FC236}">
                <a16:creationId xmlns:a16="http://schemas.microsoft.com/office/drawing/2014/main" id="{7E15BBB9-63B1-105C-8275-DAE4C90F75C4}"/>
              </a:ext>
            </a:extLst>
          </p:cNvPr>
          <p:cNvPicPr>
            <a:picLocks noChangeAspect="1"/>
          </p:cNvPicPr>
          <p:nvPr/>
        </p:nvPicPr>
        <p:blipFill>
          <a:blip r:embed="rId3"/>
          <a:stretch>
            <a:fillRect/>
          </a:stretch>
        </p:blipFill>
        <p:spPr>
          <a:xfrm>
            <a:off x="7038561" y="1325563"/>
            <a:ext cx="4207085" cy="3118619"/>
          </a:xfrm>
          <a:prstGeom prst="rect">
            <a:avLst/>
          </a:prstGeom>
        </p:spPr>
      </p:pic>
      <p:sp>
        <p:nvSpPr>
          <p:cNvPr id="3" name="Rectangle 1">
            <a:extLst>
              <a:ext uri="{FF2B5EF4-FFF2-40B4-BE49-F238E27FC236}">
                <a16:creationId xmlns:a16="http://schemas.microsoft.com/office/drawing/2014/main" id="{CED17071-9831-E5E4-DAC8-EAC99D26E077}"/>
              </a:ext>
            </a:extLst>
          </p:cNvPr>
          <p:cNvSpPr>
            <a:spLocks noChangeArrowheads="1"/>
          </p:cNvSpPr>
          <p:nvPr/>
        </p:nvSpPr>
        <p:spPr bwMode="auto">
          <a:xfrm>
            <a:off x="852281" y="4562941"/>
            <a:ext cx="1106816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query computes the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total amount spent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by each customer on each artist using</a:t>
            </a:r>
            <a:b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SUM(il.unit price * il.quantity).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Results are grouped by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customer and artist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allowing us to see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which artists each customer has spent the most on</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are ordered by total spent in descending order.</a:t>
            </a:r>
          </a:p>
        </p:txBody>
      </p:sp>
    </p:spTree>
    <p:extLst>
      <p:ext uri="{BB962C8B-B14F-4D97-AF65-F5344CB8AC3E}">
        <p14:creationId xmlns:p14="http://schemas.microsoft.com/office/powerpoint/2010/main" val="1423295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110C7-59CE-BE13-CDB2-1DB343288257}"/>
              </a:ext>
            </a:extLst>
          </p:cNvPr>
          <p:cNvSpPr>
            <a:spLocks noGrp="1"/>
          </p:cNvSpPr>
          <p:nvPr>
            <p:ph type="title"/>
          </p:nvPr>
        </p:nvSpPr>
        <p:spPr/>
        <p:txBody>
          <a:bodyPr>
            <a:noAutofit/>
          </a:bodyPr>
          <a:lstStyle/>
          <a:p>
            <a:pPr algn="ctr"/>
            <a:r>
              <a:rPr lang="en-US" sz="3200" b="1" dirty="0">
                <a:solidFill>
                  <a:srgbClr val="FF0000"/>
                </a:solidFill>
              </a:rPr>
              <a:t>Identify the most popular music genre for each country based on the highest number of purchases.</a:t>
            </a:r>
            <a:endParaRPr lang="en-IN" sz="3200" b="1" dirty="0">
              <a:solidFill>
                <a:srgbClr val="FF0000"/>
              </a:solidFill>
            </a:endParaRPr>
          </a:p>
        </p:txBody>
      </p:sp>
      <p:pic>
        <p:nvPicPr>
          <p:cNvPr id="5" name="Picture 4">
            <a:extLst>
              <a:ext uri="{FF2B5EF4-FFF2-40B4-BE49-F238E27FC236}">
                <a16:creationId xmlns:a16="http://schemas.microsoft.com/office/drawing/2014/main" id="{1C6525B0-1834-986C-7739-D7CF47F32896}"/>
              </a:ext>
            </a:extLst>
          </p:cNvPr>
          <p:cNvPicPr>
            <a:picLocks noChangeAspect="1"/>
          </p:cNvPicPr>
          <p:nvPr/>
        </p:nvPicPr>
        <p:blipFill>
          <a:blip r:embed="rId2"/>
          <a:stretch>
            <a:fillRect/>
          </a:stretch>
        </p:blipFill>
        <p:spPr>
          <a:xfrm>
            <a:off x="1034969" y="1690688"/>
            <a:ext cx="5655197" cy="4536492"/>
          </a:xfrm>
          <a:prstGeom prst="rect">
            <a:avLst/>
          </a:prstGeom>
        </p:spPr>
      </p:pic>
      <p:pic>
        <p:nvPicPr>
          <p:cNvPr id="7" name="Picture 6">
            <a:extLst>
              <a:ext uri="{FF2B5EF4-FFF2-40B4-BE49-F238E27FC236}">
                <a16:creationId xmlns:a16="http://schemas.microsoft.com/office/drawing/2014/main" id="{698E333F-2160-4192-74FF-82D81A5BA5B1}"/>
              </a:ext>
            </a:extLst>
          </p:cNvPr>
          <p:cNvPicPr>
            <a:picLocks noChangeAspect="1"/>
          </p:cNvPicPr>
          <p:nvPr/>
        </p:nvPicPr>
        <p:blipFill>
          <a:blip r:embed="rId3"/>
          <a:stretch>
            <a:fillRect/>
          </a:stretch>
        </p:blipFill>
        <p:spPr>
          <a:xfrm>
            <a:off x="7268901" y="1690688"/>
            <a:ext cx="4084899" cy="4536492"/>
          </a:xfrm>
          <a:prstGeom prst="rect">
            <a:avLst/>
          </a:prstGeom>
        </p:spPr>
      </p:pic>
    </p:spTree>
    <p:extLst>
      <p:ext uri="{BB962C8B-B14F-4D97-AF65-F5344CB8AC3E}">
        <p14:creationId xmlns:p14="http://schemas.microsoft.com/office/powerpoint/2010/main" val="1619395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A5FACC7-6B80-D748-9279-C3E9E68B5165}"/>
              </a:ext>
            </a:extLst>
          </p:cNvPr>
          <p:cNvSpPr txBox="1"/>
          <p:nvPr/>
        </p:nvSpPr>
        <p:spPr>
          <a:xfrm>
            <a:off x="710396" y="879676"/>
            <a:ext cx="10771208" cy="3108543"/>
          </a:xfrm>
          <a:prstGeom prst="rect">
            <a:avLst/>
          </a:prstGeom>
          <a:noFill/>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 each country, the most popular genre is determined by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counting the number of purchases (invoices)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associated with each genre and selecting the genre with the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maximum purchase count</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results show that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Rock</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the most popular genre in the majority of countries, indicating it has the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highest purchase volume across regions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the dataset.</a:t>
            </a:r>
          </a:p>
        </p:txBody>
      </p:sp>
    </p:spTree>
    <p:extLst>
      <p:ext uri="{BB962C8B-B14F-4D97-AF65-F5344CB8AC3E}">
        <p14:creationId xmlns:p14="http://schemas.microsoft.com/office/powerpoint/2010/main" val="1756542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01F12-4732-34C3-1346-4BEEA69D7C7B}"/>
              </a:ext>
            </a:extLst>
          </p:cNvPr>
          <p:cNvSpPr>
            <a:spLocks noGrp="1"/>
          </p:cNvSpPr>
          <p:nvPr>
            <p:ph type="title"/>
          </p:nvPr>
        </p:nvSpPr>
        <p:spPr>
          <a:xfrm>
            <a:off x="684750" y="1979"/>
            <a:ext cx="10515600" cy="1325563"/>
          </a:xfrm>
        </p:spPr>
        <p:txBody>
          <a:bodyPr>
            <a:normAutofit/>
          </a:bodyPr>
          <a:lstStyle/>
          <a:p>
            <a:pPr algn="ctr"/>
            <a:r>
              <a:rPr lang="en-US" sz="3600" b="1" dirty="0">
                <a:solidFill>
                  <a:srgbClr val="FF0000"/>
                </a:solidFill>
              </a:rPr>
              <a:t>Determine the customer who has spent the highest total amount on music in each country.</a:t>
            </a:r>
            <a:endParaRPr lang="en-IN" sz="3600" b="1" dirty="0">
              <a:solidFill>
                <a:srgbClr val="FF0000"/>
              </a:solidFill>
            </a:endParaRPr>
          </a:p>
        </p:txBody>
      </p:sp>
      <p:pic>
        <p:nvPicPr>
          <p:cNvPr id="7" name="Picture 6">
            <a:extLst>
              <a:ext uri="{FF2B5EF4-FFF2-40B4-BE49-F238E27FC236}">
                <a16:creationId xmlns:a16="http://schemas.microsoft.com/office/drawing/2014/main" id="{E8EAEB6C-075E-6E2E-3CE2-BFB7DA0DDD44}"/>
              </a:ext>
            </a:extLst>
          </p:cNvPr>
          <p:cNvPicPr>
            <a:picLocks noChangeAspect="1"/>
          </p:cNvPicPr>
          <p:nvPr/>
        </p:nvPicPr>
        <p:blipFill>
          <a:blip r:embed="rId2"/>
          <a:stretch>
            <a:fillRect/>
          </a:stretch>
        </p:blipFill>
        <p:spPr>
          <a:xfrm>
            <a:off x="7438918" y="1690688"/>
            <a:ext cx="3761432" cy="4502551"/>
          </a:xfrm>
          <a:prstGeom prst="rect">
            <a:avLst/>
          </a:prstGeom>
        </p:spPr>
      </p:pic>
      <p:pic>
        <p:nvPicPr>
          <p:cNvPr id="4" name="Picture 3">
            <a:extLst>
              <a:ext uri="{FF2B5EF4-FFF2-40B4-BE49-F238E27FC236}">
                <a16:creationId xmlns:a16="http://schemas.microsoft.com/office/drawing/2014/main" id="{5E885746-5CE1-57AB-45D8-D990524F5487}"/>
              </a:ext>
            </a:extLst>
          </p:cNvPr>
          <p:cNvPicPr>
            <a:picLocks noChangeAspect="1"/>
          </p:cNvPicPr>
          <p:nvPr/>
        </p:nvPicPr>
        <p:blipFill>
          <a:blip r:embed="rId3"/>
          <a:stretch>
            <a:fillRect/>
          </a:stretch>
        </p:blipFill>
        <p:spPr>
          <a:xfrm>
            <a:off x="531300" y="1690688"/>
            <a:ext cx="6754168" cy="5029902"/>
          </a:xfrm>
          <a:prstGeom prst="rect">
            <a:avLst/>
          </a:prstGeom>
        </p:spPr>
      </p:pic>
    </p:spTree>
    <p:extLst>
      <p:ext uri="{BB962C8B-B14F-4D97-AF65-F5344CB8AC3E}">
        <p14:creationId xmlns:p14="http://schemas.microsoft.com/office/powerpoint/2010/main" val="3001941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271D89-2E34-BE16-D065-4EB6819A0F87}"/>
              </a:ext>
            </a:extLst>
          </p:cNvPr>
          <p:cNvSpPr txBox="1"/>
          <p:nvPr/>
        </p:nvSpPr>
        <p:spPr>
          <a:xfrm>
            <a:off x="518230" y="566149"/>
            <a:ext cx="11155539" cy="3108543"/>
          </a:xfrm>
          <a:prstGeom prst="rect">
            <a:avLst/>
          </a:prstGeom>
          <a:noFill/>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 each country, the query calculates the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total amount spent by each customer</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then identifies the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maximum spending value</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selecting the customer(s) who match that amount.</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results highlight the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top-spending customer per country</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 spending levels varying across countries, and are ordered by the </a:t>
            </a: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maximum amount spent</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 descending order.</a:t>
            </a:r>
          </a:p>
        </p:txBody>
      </p:sp>
    </p:spTree>
    <p:extLst>
      <p:ext uri="{BB962C8B-B14F-4D97-AF65-F5344CB8AC3E}">
        <p14:creationId xmlns:p14="http://schemas.microsoft.com/office/powerpoint/2010/main" val="3375442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C2107-536D-BA35-0B44-24563A870C21}"/>
              </a:ext>
            </a:extLst>
          </p:cNvPr>
          <p:cNvSpPr>
            <a:spLocks noGrp="1"/>
          </p:cNvSpPr>
          <p:nvPr>
            <p:ph type="title"/>
          </p:nvPr>
        </p:nvSpPr>
        <p:spPr/>
        <p:txBody>
          <a:bodyPr/>
          <a:lstStyle/>
          <a:p>
            <a:pPr algn="ctr"/>
            <a:r>
              <a:rPr lang="en-IN" b="1" dirty="0">
                <a:solidFill>
                  <a:srgbClr val="FF0000"/>
                </a:solidFill>
              </a:rPr>
              <a:t>Final Business Insights </a:t>
            </a:r>
          </a:p>
        </p:txBody>
      </p:sp>
      <p:sp>
        <p:nvSpPr>
          <p:cNvPr id="4" name="Rectangle 1">
            <a:extLst>
              <a:ext uri="{FF2B5EF4-FFF2-40B4-BE49-F238E27FC236}">
                <a16:creationId xmlns:a16="http://schemas.microsoft.com/office/drawing/2014/main" id="{1C94FC77-7013-9021-36CE-9C0438B35F5C}"/>
              </a:ext>
            </a:extLst>
          </p:cNvPr>
          <p:cNvSpPr>
            <a:spLocks noChangeArrowheads="1"/>
          </p:cNvSpPr>
          <p:nvPr/>
        </p:nvSpPr>
        <p:spPr bwMode="auto">
          <a:xfrm>
            <a:off x="838200" y="1443841"/>
            <a:ext cx="1091692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Prague</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the highest revenue-generating city → best location for promotional music events.</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USA</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leads in invoice volume → strongest and most active market.</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Rock</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the most popular genre across most countries → primary focus for marketing campaigns.</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Top Rock artists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(e.g., AC/DC, Aerosmith) dominate the dataset → ideal for artist-led promotions.</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High-spending customers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contribute significantly to revenue → target them with loyalty and premium offers.</a:t>
            </a:r>
          </a:p>
        </p:txBody>
      </p:sp>
    </p:spTree>
    <p:extLst>
      <p:ext uri="{BB962C8B-B14F-4D97-AF65-F5344CB8AC3E}">
        <p14:creationId xmlns:p14="http://schemas.microsoft.com/office/powerpoint/2010/main" val="803345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8BC9F-9B83-10C6-4A43-B3DC31F4893A}"/>
              </a:ext>
            </a:extLst>
          </p:cNvPr>
          <p:cNvSpPr>
            <a:spLocks noGrp="1"/>
          </p:cNvSpPr>
          <p:nvPr>
            <p:ph type="title"/>
          </p:nvPr>
        </p:nvSpPr>
        <p:spPr/>
        <p:txBody>
          <a:bodyPr/>
          <a:lstStyle/>
          <a:p>
            <a:pPr algn="ctr"/>
            <a:r>
              <a:rPr lang="en-IN" b="1" dirty="0">
                <a:solidFill>
                  <a:srgbClr val="FF0000"/>
                </a:solidFill>
              </a:rPr>
              <a:t>Business Recommendations</a:t>
            </a:r>
          </a:p>
        </p:txBody>
      </p:sp>
      <p:sp>
        <p:nvSpPr>
          <p:cNvPr id="3" name="Rectangle 1">
            <a:extLst>
              <a:ext uri="{FF2B5EF4-FFF2-40B4-BE49-F238E27FC236}">
                <a16:creationId xmlns:a16="http://schemas.microsoft.com/office/drawing/2014/main" id="{7BF7F0F1-E2BD-F039-29EB-1991373924B0}"/>
              </a:ext>
            </a:extLst>
          </p:cNvPr>
          <p:cNvSpPr>
            <a:spLocks noChangeArrowheads="1"/>
          </p:cNvSpPr>
          <p:nvPr/>
        </p:nvSpPr>
        <p:spPr bwMode="auto">
          <a:xfrm>
            <a:off x="983226" y="1659285"/>
            <a:ext cx="1037057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Focus marketing efforts on high-revenue markets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such as Prague and countries with the highest invoice volumes (e.g., USA).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Promote Rock music aggressively</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as it is the most popular genre across most countries.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Leverage top-performing artists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(e.g., AC/DC, Aerosmith) for promotions, featured playlists, and campaigns.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Target high-value customers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 loyalty programs, personalized offers, and exclusive access to content.</a:t>
            </a:r>
          </a:p>
        </p:txBody>
      </p:sp>
    </p:spTree>
    <p:extLst>
      <p:ext uri="{BB962C8B-B14F-4D97-AF65-F5344CB8AC3E}">
        <p14:creationId xmlns:p14="http://schemas.microsoft.com/office/powerpoint/2010/main" val="2961995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5B69-CFC2-CC83-11D9-280D3A916660}"/>
              </a:ext>
            </a:extLst>
          </p:cNvPr>
          <p:cNvSpPr>
            <a:spLocks noGrp="1"/>
          </p:cNvSpPr>
          <p:nvPr>
            <p:ph type="title"/>
          </p:nvPr>
        </p:nvSpPr>
        <p:spPr>
          <a:xfrm>
            <a:off x="838200" y="114150"/>
            <a:ext cx="10515600" cy="1325563"/>
          </a:xfrm>
        </p:spPr>
        <p:txBody>
          <a:bodyPr/>
          <a:lstStyle/>
          <a:p>
            <a:pPr algn="ctr"/>
            <a:r>
              <a:rPr lang="en-US" b="1" dirty="0">
                <a:solidFill>
                  <a:srgbClr val="FF0000"/>
                </a:solidFill>
              </a:rPr>
              <a:t>Conclusion</a:t>
            </a:r>
            <a:endParaRPr lang="en-IN" b="1" dirty="0">
              <a:solidFill>
                <a:srgbClr val="FF0000"/>
              </a:solidFill>
            </a:endParaRPr>
          </a:p>
        </p:txBody>
      </p:sp>
      <p:sp>
        <p:nvSpPr>
          <p:cNvPr id="4" name="TextBox 3">
            <a:extLst>
              <a:ext uri="{FF2B5EF4-FFF2-40B4-BE49-F238E27FC236}">
                <a16:creationId xmlns:a16="http://schemas.microsoft.com/office/drawing/2014/main" id="{030CE5D2-3F6B-9D7D-62A2-F50D8E7C7B7F}"/>
              </a:ext>
            </a:extLst>
          </p:cNvPr>
          <p:cNvSpPr txBox="1"/>
          <p:nvPr/>
        </p:nvSpPr>
        <p:spPr>
          <a:xfrm>
            <a:off x="838200" y="1279456"/>
            <a:ext cx="10988040" cy="4832092"/>
          </a:xfrm>
          <a:prstGeom prst="rect">
            <a:avLst/>
          </a:prstGeom>
          <a:noFill/>
        </p:spPr>
        <p:txBody>
          <a:bodyPr wrap="square">
            <a:spAutoFit/>
          </a:bodyPr>
          <a:lstStyle/>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This analysis provides a clear understanding of customer behavior, revenue distribution, and genre preferences within the music store dataset.</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The results show that revenue is concentrated in specific cities (such as Prague), the USA drives the highest transaction volume, and Rock is the dominant genre across most countries. Additionally, certain customers and artists contribute significantly to overall revenue.</a:t>
            </a:r>
          </a:p>
          <a:p>
            <a:pPr marL="28575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By focusing on high-revenue markets, promoting the most popular genre (Rock), engaging top artists, and targeting high-spending customers, the company can optimize marketing efforts, improve customer retention, and maximize overall profitability.</a:t>
            </a:r>
          </a:p>
        </p:txBody>
      </p:sp>
    </p:spTree>
    <p:extLst>
      <p:ext uri="{BB962C8B-B14F-4D97-AF65-F5344CB8AC3E}">
        <p14:creationId xmlns:p14="http://schemas.microsoft.com/office/powerpoint/2010/main" val="3043637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20B98F0-A9B6-50F9-F35B-195F2BF46146}"/>
              </a:ext>
            </a:extLst>
          </p:cNvPr>
          <p:cNvPicPr>
            <a:picLocks noChangeAspect="1"/>
          </p:cNvPicPr>
          <p:nvPr/>
        </p:nvPicPr>
        <p:blipFill>
          <a:blip r:embed="rId2"/>
          <a:stretch>
            <a:fillRect/>
          </a:stretch>
        </p:blipFill>
        <p:spPr>
          <a:xfrm>
            <a:off x="2368804" y="1437496"/>
            <a:ext cx="7069836" cy="3983007"/>
          </a:xfrm>
          <a:prstGeom prst="rect">
            <a:avLst/>
          </a:prstGeom>
        </p:spPr>
      </p:pic>
    </p:spTree>
    <p:extLst>
      <p:ext uri="{BB962C8B-B14F-4D97-AF65-F5344CB8AC3E}">
        <p14:creationId xmlns:p14="http://schemas.microsoft.com/office/powerpoint/2010/main" val="3650606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TotalTime>
  <Words>1347</Words>
  <Application>Microsoft Office PowerPoint</Application>
  <PresentationFormat>Widescreen</PresentationFormat>
  <Paragraphs>110</Paragraphs>
  <Slides>23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Courier New</vt:lpstr>
      <vt:lpstr>Libre Baskerville</vt:lpstr>
      <vt:lpstr>Calibri</vt:lpstr>
      <vt:lpstr>Arial</vt:lpstr>
      <vt:lpstr>Office Theme</vt:lpstr>
      <vt:lpstr>PowerPoint Presentation</vt:lpstr>
      <vt:lpstr>Agenda</vt:lpstr>
      <vt:lpstr>Business Problem</vt:lpstr>
      <vt:lpstr>Business Problem Statement</vt:lpstr>
      <vt:lpstr>Introduction</vt:lpstr>
      <vt:lpstr>Objective of the Project </vt:lpstr>
      <vt:lpstr>Music Store Database – Tables Overview</vt:lpstr>
      <vt:lpstr>ER DIAGRAM</vt:lpstr>
      <vt:lpstr>Which city generates the highest total revenue and should be selected to host a promotional music festival?</vt:lpstr>
      <vt:lpstr>Which customer has spent the highest total amount and is therefore considered the best customer?</vt:lpstr>
      <vt:lpstr>Retrieve the email ID, first name, last name, and genre of all customers who listen to Rock music.</vt:lpstr>
      <vt:lpstr>Which artists have produced the highest number of Rock music tracks in the dataset?</vt:lpstr>
      <vt:lpstr> Return all the track names that have a song length longer than the average song length.-Return the Name and Milliseconds for each track</vt:lpstr>
      <vt:lpstr>Calculate the total amount spent by each customer on individual artists.</vt:lpstr>
      <vt:lpstr>Identify the most popular music genre for each country based on the highest number of purchases.</vt:lpstr>
      <vt:lpstr>PowerPoint Presentation</vt:lpstr>
      <vt:lpstr>Determine the customer who has spent the highest total amount on music in each country.</vt:lpstr>
      <vt:lpstr>PowerPoint Presentation</vt:lpstr>
      <vt:lpstr>Final Business Insights </vt:lpstr>
      <vt:lpstr>Business Recommendations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Ramesh Manchupally</cp:lastModifiedBy>
  <cp:revision>17</cp:revision>
  <dcterms:created xsi:type="dcterms:W3CDTF">2021-02-16T05:19:01Z</dcterms:created>
  <dcterms:modified xsi:type="dcterms:W3CDTF">2026-10-10T06:16:16Z</dcterms:modified>
</cp:coreProperties>
</file>